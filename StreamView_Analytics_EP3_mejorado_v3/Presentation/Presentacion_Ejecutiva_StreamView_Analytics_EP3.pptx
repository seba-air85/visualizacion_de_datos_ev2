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40080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STREAMVIEW
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71323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0">
                <a:solidFill>
                  <a:srgbClr val="D7E1EB"/>
                </a:solidFill>
                <a:latin typeface="Aptos"/>
              </a:rPr>
              <a:t>Visual Analytics para decisiones estratégicas sobre contenidos digitales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00" b="0">
                <a:solidFill>
                  <a:srgbClr val="B4C3D2"/>
                </a:solidFill>
                <a:latin typeface="Aptos"/>
              </a:rPr>
              <a:t>Evaluación Parcial EP3 · ADY1104 Visualización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097280"/>
            <a:ext cx="28346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261872"/>
            <a:ext cx="2560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31.991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719072"/>
            <a:ext cx="25603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contenidos únicos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331720"/>
            <a:ext cx="28346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496312"/>
            <a:ext cx="2560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42,63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953512"/>
            <a:ext cx="25603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popularidad promedio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566160"/>
            <a:ext cx="28346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730752"/>
            <a:ext cx="2560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6,63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187952"/>
            <a:ext cx="25603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valoración promedio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5486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B4C3D2"/>
                </a:solidFill>
                <a:latin typeface="Aptos"/>
              </a:rPr>
              <a:t>Resumen ejecutivo listo para Canva / 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1. Problema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La dificultad no es disponer de datos, sino convertirlos en decisiones.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484632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0F1E32"/>
                </a:solidFill>
                <a:latin typeface="Aptos"/>
              </a:rPr>
              <a:t>¿Qué necesita resolver StreamView?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32B"/>
                </a:solidFill>
                <a:latin typeface="Aptos"/>
              </a:defRPr>
            </a:pPr>
            <a:r>
              <a:t>Identificar rápidamente qué géneros presentan mayor popularidad.</a:t>
            </a:r>
          </a:p>
          <a:p>
            <a:pPr>
              <a:spcAft>
                <a:spcPts val="800"/>
              </a:spcAft>
              <a:defRPr sz="1500">
                <a:solidFill>
                  <a:srgbClr val="1C232B"/>
                </a:solidFill>
                <a:latin typeface="Aptos"/>
              </a:defRPr>
            </a:pPr>
            <a:r>
              <a:t>Determinar qué contenidos deberían priorizarse en campañas promocionales.</a:t>
            </a:r>
          </a:p>
          <a:p>
            <a:pPr>
              <a:spcAft>
                <a:spcPts val="800"/>
              </a:spcAft>
              <a:defRPr sz="1500">
                <a:solidFill>
                  <a:srgbClr val="1C232B"/>
                </a:solidFill>
                <a:latin typeface="Aptos"/>
              </a:defRPr>
            </a:pPr>
            <a:r>
              <a:t>Comprender qué características poseen los contenidos populares y mejor evaluados.</a:t>
            </a:r>
          </a:p>
          <a:p>
            <a:pPr>
              <a:spcAft>
                <a:spcPts val="800"/>
              </a:spcAft>
              <a:defRPr sz="1500">
                <a:solidFill>
                  <a:srgbClr val="1C232B"/>
                </a:solidFill>
                <a:latin typeface="Aptos"/>
              </a:defRPr>
            </a:pPr>
            <a:r>
              <a:t>Entregar una visión consolidada a Marketing y Adquisición de Contenidos.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212080" cy="40233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4805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225C9B"/>
                </a:solidFill>
                <a:latin typeface="Aptos"/>
              </a:rPr>
              <a:t>Pregunta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38912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200" b="1">
                <a:solidFill>
                  <a:srgbClr val="0F1E32"/>
                </a:solidFill>
                <a:latin typeface="Aptos"/>
              </a:rPr>
              <a:t>¿Qué géneros y contenidos combinan mayor popularidad y valoración, y cómo puede esa evidencia orientar Marketing y Adquisición?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160520"/>
            <a:ext cx="429768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Audiencia: Gerencia de Marketing + Gerencia de Adquisición y Gestión de Contenidos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2. Datos 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Dos fuentes oficiales del caso, integradas en un catálogo analítico común.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4688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1"/>
            <a:ext cx="21945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16.000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películas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4688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44751"/>
            <a:ext cx="21945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16.000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01952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series originales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280160"/>
            <a:ext cx="24688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44751"/>
            <a:ext cx="21945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31.991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01952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contenidos únicos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280160"/>
            <a:ext cx="24688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444751"/>
            <a:ext cx="21945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01952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géneros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700" b="1">
                <a:solidFill>
                  <a:srgbClr val="0F1E32"/>
                </a:solidFill>
                <a:latin typeface="Aptos"/>
              </a:rPr>
              <a:t>Control de calidad aplicado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C232B"/>
                </a:solidFill>
                <a:latin typeface="Aptos"/>
              </a:defRPr>
            </a:pPr>
            <a:r>
              <a:t>Clave analítica: content_type + show_id.</a:t>
            </a:r>
          </a:p>
          <a:p>
            <a:pPr>
              <a:spcAft>
                <a:spcPts val="800"/>
              </a:spcAft>
              <a:defRPr sz="1350">
                <a:solidFill>
                  <a:srgbClr val="1C232B"/>
                </a:solidFill>
                <a:latin typeface="Aptos"/>
              </a:defRPr>
            </a:pPr>
            <a:r>
              <a:t>397 show_id compartidos entre películas y series: no son duplicados reales.</a:t>
            </a:r>
          </a:p>
          <a:p>
            <a:pPr>
              <a:spcAft>
                <a:spcPts val="800"/>
              </a:spcAft>
              <a:defRPr sz="1350">
                <a:solidFill>
                  <a:srgbClr val="1C232B"/>
                </a:solidFill>
                <a:latin typeface="Aptos"/>
              </a:defRPr>
            </a:pPr>
            <a:r>
              <a:t>9 duplicados reales en series fueron consolidados.</a:t>
            </a:r>
          </a:p>
          <a:p>
            <a:pPr>
              <a:spcAft>
                <a:spcPts val="800"/>
              </a:spcAft>
              <a:defRPr sz="1350">
                <a:solidFill>
                  <a:srgbClr val="1C232B"/>
                </a:solidFill>
                <a:latin typeface="Aptos"/>
              </a:defRPr>
            </a:pPr>
            <a:r>
              <a:t>vote_average se interpreta solo con vote_count &gt; 0.</a:t>
            </a:r>
          </a:p>
          <a:p>
            <a:pPr>
              <a:spcAft>
                <a:spcPts val="800"/>
              </a:spcAft>
              <a:defRPr sz="1350">
                <a:solidFill>
                  <a:srgbClr val="1C232B"/>
                </a:solidFill>
                <a:latin typeface="Aptos"/>
              </a:defRPr>
            </a:pPr>
            <a:r>
              <a:t>budget y revenue se utilizan exclusivamente para películas.</a:t>
            </a:r>
          </a:p>
        </p:txBody>
      </p:sp>
      <p:pic>
        <p:nvPicPr>
          <p:cNvPr id="19" name="Picture 18" descr="mapa_calor_n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40380"/>
            <a:ext cx="466344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3. Dashboard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KPIs y filtros permiten pasar de una visión global al detalle.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31.991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Contenidos únicos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49047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16.000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194767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Películas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15.991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Series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2588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9047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94767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Géneros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1635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42,63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Popularidad promedio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65176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281635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6,63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327355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Valoración promedio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65176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81635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Soap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7355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Género más popular*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651760"/>
            <a:ext cx="25146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816352"/>
            <a:ext cx="22402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6.421,923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73552"/>
            <a:ext cx="22402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Mayor popularidad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196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0F1E32"/>
                </a:solidFill>
                <a:latin typeface="Aptos"/>
              </a:rPr>
              <a:t>Filtros disponibles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Tipo de contenido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Año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Género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País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Idioma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251960"/>
            <a:ext cx="1828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0F1E32"/>
                </a:solidFill>
                <a:latin typeface="Aptos"/>
              </a:rPr>
              <a:t>Navegación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Resumen ejecutivo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Análisis por género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Evolución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Valoración vs. popularidad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Finanzas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Catálogo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846320"/>
            <a:ext cx="393192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64707D"/>
                </a:solidFill>
                <a:latin typeface="Aptos"/>
              </a:rPr>
              <a:t>* Popularidad promedio por género con umbral mínimo de contenidos.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4. Hallazgo central: volumen ≠ popularidad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Los géneros más abundantes no son necesariamente los que generan mayor interés.</a:t>
            </a:r>
          </a:p>
        </p:txBody>
      </p:sp>
      <p:pic>
        <p:nvPicPr>
          <p:cNvPr id="5" name="Picture 4" descr="comparacion_volumen_vs_popular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4154"/>
            <a:ext cx="6949440" cy="2978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32918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700" b="1">
                <a:solidFill>
                  <a:srgbClr val="0F1E32"/>
                </a:solidFill>
                <a:latin typeface="Aptos"/>
              </a:rPr>
              <a:t>Lectura ejecutiva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Drama concentra 14.773 asociaciones de género.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Su popularidad promedio es 41,96.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Comedy registra 9.106 asociaciones y 43,00 de popularidad promedio.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La cantidad de títulos no debe utilizarse como sustituto de desempeño.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617720"/>
            <a:ext cx="35661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773168"/>
            <a:ext cx="9144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00" b="1">
                <a:solidFill>
                  <a:srgbClr val="225C9B"/>
                </a:solidFill>
                <a:latin typeface="Aptos"/>
              </a:rPr>
              <a:t>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047488"/>
            <a:ext cx="29718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C232B"/>
                </a:solidFill>
                <a:latin typeface="Aptos"/>
              </a:rPr>
              <a:t>Comparar oferta y desempeño antes de priorizar campañas o adquisiciones.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5. ¿Qué géneros concentran mayor popularidad?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Se aplica un mínimo de 100 contenidos para evitar rankings dominados por categorías muy pequeñas.</a:t>
            </a:r>
          </a:p>
        </p:txBody>
      </p:sp>
      <p:pic>
        <p:nvPicPr>
          <p:cNvPr id="5" name="Picture 4" descr="popularidad_top_generos_integ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31620"/>
            <a:ext cx="694944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417320"/>
            <a:ext cx="3200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81912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155,46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39112"/>
            <a:ext cx="29260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Soap · popularidad promedio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697480"/>
            <a:ext cx="3200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862072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88,40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319272"/>
            <a:ext cx="29260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Soap · mediana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977639"/>
            <a:ext cx="3200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142231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631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599431"/>
            <a:ext cx="29260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asociaciones de género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303520"/>
            <a:ext cx="324612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64707D"/>
                </a:solidFill>
                <a:latin typeface="Aptos"/>
              </a:rPr>
              <a:t>El promedio supera ampliamente la mediana: existen títulos muy populares que elevan el indicador. Por eso no recomendamos decidir solo con el promedio.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6. Popularidad, valoración y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La solución combina métricas para reducir interpretaciones simplistas.</a:t>
            </a:r>
          </a:p>
        </p:txBody>
      </p:sp>
      <p:pic>
        <p:nvPicPr>
          <p:cNvPr id="5" name="Picture 4" descr="distribucion_popularity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0512"/>
            <a:ext cx="5394960" cy="3236976"/>
          </a:xfrm>
          <a:prstGeom prst="rect">
            <a:avLst/>
          </a:prstGeom>
        </p:spPr>
      </p:pic>
      <p:pic>
        <p:nvPicPr>
          <p:cNvPr id="6" name="Picture 5" descr="matriz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45474"/>
            <a:ext cx="5303520" cy="4167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669280"/>
            <a:ext cx="18288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0F1E32"/>
                </a:solidFill>
                <a:latin typeface="Aptos"/>
              </a:rPr>
              <a:t>Popularidad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61888"/>
            <a:ext cx="43891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Índice relativo; no representa reproducciones.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669280"/>
            <a:ext cx="18288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0F1E32"/>
                </a:solidFill>
                <a:latin typeface="Aptos"/>
              </a:rPr>
              <a:t>Valoración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961888"/>
            <a:ext cx="43891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Se considera con vote_count &gt; 0 para evitar falsas evaluaciones.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7. Diseño interactivo y cobertura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La solución cubre los recursos visuales exigidos por el caso.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225C9B"/>
                </a:solidFill>
                <a:latin typeface="Aptos"/>
              </a:rPr>
              <a:t>Barras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Rankings y comparación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27632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225C9B"/>
                </a:solidFill>
                <a:latin typeface="Aptos"/>
              </a:rPr>
              <a:t>Líneas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Estrenos por año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375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27632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225C9B"/>
                </a:solidFill>
                <a:latin typeface="Aptos"/>
              </a:rPr>
              <a:t>Área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84248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Incorporaciones al catálogo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33375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1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225C9B"/>
                </a:solidFill>
                <a:latin typeface="Aptos"/>
              </a:rPr>
              <a:t>Dispersión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93008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Popularidad vs. valoración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26080"/>
            <a:ext cx="33375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136391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225C9B"/>
                </a:solidFill>
                <a:latin typeface="Aptos"/>
              </a:rPr>
              <a:t>Treemap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93008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Tipo → género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3375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136391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225C9B"/>
                </a:solidFill>
                <a:latin typeface="Aptos"/>
              </a:rPr>
              <a:t>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493008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64707D"/>
                </a:solidFill>
                <a:latin typeface="Aptos"/>
              </a:rPr>
              <a:t>Síntesis ejecutiva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600" b="1">
                <a:solidFill>
                  <a:srgbClr val="0F1E32"/>
                </a:solidFill>
                <a:latin typeface="Aptos"/>
              </a:rPr>
              <a:t>Criterios de diseño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Simplicidad y jerarquía visual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Títulos y leyendas claras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Filtros consistentes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Interacción Plotly</a:t>
            </a:r>
          </a:p>
          <a:p>
            <a:pPr>
              <a:spcAft>
                <a:spcPts val="800"/>
              </a:spcAft>
              <a:defRPr sz="1250">
                <a:solidFill>
                  <a:srgbClr val="1C232B"/>
                </a:solidFill>
                <a:latin typeface="Aptos"/>
              </a:defRPr>
            </a:pPr>
            <a:r>
              <a:t>Separación de análisis financiero para películas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2"/>
                </a:solidFill>
                <a:latin typeface="Aptos Display"/>
              </a:rPr>
              <a:t>8. Recomendaciones para la organización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07D"/>
                </a:solidFill>
                <a:latin typeface="Aptos"/>
              </a:rPr>
              <a:t>La evidencia se utiliza como priorización, no como una decisión automática.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828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Evaluar géneros de alta popularidad como candidatos para campañas.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Validar promedio con mediana, valoración, vote_count y tamaño del segmento.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Usar rankings de títulos para campañas tácticas.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No priorizar Drama o Comedy únicamente por volumen.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36576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Adquisición de Contenidos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Combinar popularidad, valoración y respaldo de votos.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Buscar equilibrio entre géneros masivos y segmentos de alto interés.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Revisar valores atípicos antes de negociar adquisiciones.</a:t>
            </a:r>
          </a:p>
          <a:p>
            <a:pPr>
              <a:spcAft>
                <a:spcPts val="800"/>
              </a:spcAft>
              <a:defRPr sz="1400">
                <a:solidFill>
                  <a:srgbClr val="1C232B"/>
                </a:solidFill>
                <a:latin typeface="Aptos"/>
              </a:defRPr>
            </a:pPr>
            <a:r>
              <a:t>Mantener budget/revenue exclusivamente en decisiones sobre películas.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9.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7E1EB"/>
                </a:solidFill>
                <a:latin typeface="Aptos"/>
              </a:rPr>
              <a:t>De datos dispersos a una herramienta ejecutiva de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93192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AAD2E6"/>
                </a:solidFill>
                <a:latin typeface="Aptos"/>
              </a:rPr>
              <a:t>El principal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858000" cy="1005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Más contenido no significa necesariamente más popularidad.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694944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0">
                <a:solidFill>
                  <a:srgbClr val="D7E1EB"/>
                </a:solidFill>
                <a:latin typeface="Aptos"/>
              </a:rPr>
              <a:t>La estrategia debe combinar volumen + popularidad + valoración + cantidad de votos, considerando siempre el tamaño de muestra y los valores atípicos.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08760"/>
            <a:ext cx="27432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673351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Aptos"/>
              </a:rPr>
              <a:t>31.991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30552"/>
            <a:ext cx="24688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contenidos analizados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88920"/>
            <a:ext cx="27432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953512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E67E22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410712"/>
            <a:ext cx="24688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filtros principales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069080"/>
            <a:ext cx="27432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233672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225C9B"/>
                </a:solidFill>
                <a:latin typeface="Aptos"/>
              </a:rPr>
              <a:t>6+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90872"/>
            <a:ext cx="24688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64707D"/>
                </a:solidFill>
                <a:latin typeface="Aptos"/>
              </a:rPr>
              <a:t>recursos visuales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77724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AAD2E6"/>
                </a:solidFill>
                <a:latin typeface="Aptos"/>
              </a:rPr>
              <a:t>Resultado: dashboard reproducible, interactivo y orientado a Marketing y Adquisición.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4707D"/>
                </a:solidFill>
              </a:rPr>
              <a:t>STREAMVIEW ANALYTICS  •  EP3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